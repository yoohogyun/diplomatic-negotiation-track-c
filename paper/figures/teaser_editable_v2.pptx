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9659e7099b4e76" /><Relationship Type="http://schemas.openxmlformats.org/officeDocument/2006/relationships/extended-properties" Target="/docProps/app.xml" Id="R6ae5e2839c36442e" /><Relationship Type="http://schemas.openxmlformats.org/officeDocument/2006/relationships/officeDocument" Target="/ppt/presentation.xml" Id="R6809e2972e3245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8da6a6f68d4378"/>
  </p:sldMasterIdLst>
  <p:notesMasterIdLst>
    <p:notesMasterId xmlns:r="http://schemas.openxmlformats.org/officeDocument/2006/relationships" r:id="R9279354a1b654102"/>
  </p:notesMasterIdLst>
  <p:sldIdLst>
    <p:sldId xmlns:r="http://schemas.openxmlformats.org/officeDocument/2006/relationships" id="256" r:id="R4ee5a7e3deb94279"/>
  </p:sldIdLst>
  <p:sldSz cx="16002000" cy="533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6c1e103664621" /><Relationship Type="http://schemas.openxmlformats.org/officeDocument/2006/relationships/slideMaster" Target="/ppt/slideMasters/slideMaster1.xml" Id="R228da6a6f68d4378" /><Relationship Type="http://schemas.openxmlformats.org/officeDocument/2006/relationships/notesMaster" Target="/ppt/notesMasters/notesMaster1.xml" Id="R9279354a1b654102" /><Relationship Type="http://schemas.openxmlformats.org/officeDocument/2006/relationships/presProps" Target="/ppt/presProps.xml" Id="R9d1241f3dcb64827" /><Relationship Type="http://schemas.openxmlformats.org/officeDocument/2006/relationships/tableStyles" Target="/ppt/tableStyles.xml" Id="R84fb74c77d2440fa" /><Relationship Type="http://schemas.openxmlformats.org/officeDocument/2006/relationships/slide" Target="/ppt/slides/slide1.xml" Id="R4ee5a7e3deb942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78c02d7ad942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7abed0093e4e34" /><Relationship Type="http://schemas.openxmlformats.org/officeDocument/2006/relationships/notesMaster" Target="/ppt/notesMasters/notesMaster1.xml" Id="R64870fed298e4c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redraw of the generated concept teaser_concept.png. All diagram elements, text and the chart are native editable objects. The diagram shows alternative local controllers, a planner-to-PPO distillation arrow, and fixed offline language execution. No online language generation is implied. Values: planner 0.533428125, Sol medium 0.514011719, distilled PPO mean 0.475317708. Sources: sol_results/matched_policy_controls.csv, sol_results/direct_comparison.csv, improvement_results/summary.csv, paper/methods_results.tex. Costs shown refer only to online action selection, excluding offline preparation and training. 64 document–configuration conditions, not 64 historical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dca839d1c4b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6eed2ba1049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640bc133547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a635603e043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77c09d3f347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4807968564a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9B8CEF-ABFC-4CEB-8332-65667452BB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0200" y="2015067"/>
            <a:ext cx="12801600" cy="770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750DA4-1F9C-4A11-815D-C23D3246EE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00300" y="2933700"/>
            <a:ext cx="11201400" cy="592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269B6F-AF22-47E6-8DEF-25176FD2EF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0200" y="2222500"/>
            <a:ext cx="128016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DD8AC6-FEB1-4C41-A030-9E812D2D8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113" y="414867"/>
            <a:ext cx="14201775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AEF150-CC90-4831-9EDD-1B1B1BF3A8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0113" y="1481667"/>
            <a:ext cx="14201775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3D6E5C-7CF9-4AB8-A755-EBFA9C7AD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113" y="414867"/>
            <a:ext cx="14201775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0CB14C-1890-44BF-BCAF-026523C03A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0113" y="1481667"/>
            <a:ext cx="6600825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39F1CC-9130-437D-BC7F-306B0FE859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501063" y="1481667"/>
            <a:ext cx="6600825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B0ADF5-3DA6-4DE0-B3A2-EABD7FF7A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113" y="414867"/>
            <a:ext cx="14201775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394C45-08AE-4BBC-A13E-5A240AFF74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0113" y="1481667"/>
            <a:ext cx="6600825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6ae5cf34a64c88" /><Relationship Type="http://schemas.openxmlformats.org/officeDocument/2006/relationships/slideLayout" Target="/ppt/slideLayouts/slideLayout1.xml" Id="R10f2ddfd5d5144c9" /><Relationship Type="http://schemas.openxmlformats.org/officeDocument/2006/relationships/slideLayout" Target="/ppt/slideLayouts/slideLayout2.xml" Id="R065c88965d524ad0" /><Relationship Type="http://schemas.openxmlformats.org/officeDocument/2006/relationships/slideLayout" Target="/ppt/slideLayouts/slideLayout3.xml" Id="R32e20b15fd21487c" /><Relationship Type="http://schemas.openxmlformats.org/officeDocument/2006/relationships/slideLayout" Target="/ppt/slideLayouts/slideLayout4.xml" Id="Ra6f5652879014c75" /><Relationship Type="http://schemas.openxmlformats.org/officeDocument/2006/relationships/slideLayout" Target="/ppt/slideLayouts/slideLayout5.xml" Id="R408e49ce3aa44f64" /><Relationship Type="http://schemas.openxmlformats.org/officeDocument/2006/relationships/slideLayout" Target="/ppt/slideLayouts/slideLayout6.xml" Id="R22c70720a29946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2ddfd5d5144c9"/>
    <p:sldLayoutId xmlns:r="http://schemas.openxmlformats.org/officeDocument/2006/relationships" id="2147483650" r:id="R065c88965d524ad0"/>
    <p:sldLayoutId xmlns:r="http://schemas.openxmlformats.org/officeDocument/2006/relationships" id="2147483651" r:id="R32e20b15fd21487c"/>
    <p:sldLayoutId xmlns:r="http://schemas.openxmlformats.org/officeDocument/2006/relationships" id="2147483652" r:id="Ra6f5652879014c75"/>
    <p:sldLayoutId xmlns:r="http://schemas.openxmlformats.org/officeDocument/2006/relationships" id="2147483653" r:id="R408e49ce3aa44f64"/>
    <p:sldLayoutId xmlns:r="http://schemas.openxmlformats.org/officeDocument/2006/relationships" id="2147483654" r:id="R22c70720a29946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bf66d8f684604" /><Relationship Type="http://schemas.openxmlformats.org/officeDocument/2006/relationships/chart" Target="/ppt/slides/charts/chart1.xml" Id="Ra6ab5e6c22454a28" /><Relationship Type="http://schemas.openxmlformats.org/officeDocument/2006/relationships/notesSlide" Target="/ppt/notesSlides/notesSlide1.xml" Id="Rd1fe49387ad2446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Net utility</c:v>
          </c:tx>
          <c:spPr>
            <a:solidFill xmlns:a="http://schemas.openxmlformats.org/drawingml/2006/main">
              <a:srgbClr val="087F83"/>
            </a:solidFill>
          </c:spPr>
          <c:invertIfNegative val="0"/>
          <c:dPt>
            <c:idx val="2"/>
            <c:invertIfNegative val="0"/>
            <c:spPr>
              <a:solidFill xmlns:a="http://schemas.openxmlformats.org/drawingml/2006/main">
                <a:srgbClr val="087F8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EBAD7"/>
              </a:solidFill>
            </c:spPr>
          </c:dPt>
          <c:dPt>
            <c:idx val="0"/>
            <c:invertIfNegative val="0"/>
            <c:spPr>
              <a:solidFill xmlns:a="http://schemas.openxmlformats.org/drawingml/2006/main">
                <a:srgbClr val="9CD0D1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Distilled PPO</c:v>
                </c:pt>
                <c:pt idx="1">
                  <c:v>Sol medium</c:v>
                </c:pt>
                <c:pt idx="2">
                  <c:v>Planner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0.475317708</c:v>
                </c:pt>
                <c:pt idx="1">
                  <c:v>0.514011719</c:v>
                </c:pt>
                <c:pt idx="2">
                  <c:v>0.533428125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5374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15374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15374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heading-a">
            <a:extLst xmlns:a="http://schemas.openxmlformats.org/drawingml/2006/main">
              <a:ext uri="{FF2B5EF4-FFF2-40B4-BE49-F238E27FC236}">
                <a16:creationId xmlns:a16="http://schemas.microsoft.com/office/drawing/2014/main" id="{B1DD762B-9BFD-42A7-B4AA-7E1F5E54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A  Real diplomatic context</a:t>
            </a:r>
          </a:p>
        </p:txBody>
      </p:sp>
      <p:sp>
        <p:nvSpPr>
          <p:cNvPr id="2" name="heading-b">
            <a:extLst xmlns:a="http://schemas.openxmlformats.org/drawingml/2006/main">
              <a:ext uri="{FF2B5EF4-FFF2-40B4-BE49-F238E27FC236}">
                <a16:creationId xmlns:a16="http://schemas.microsoft.com/office/drawing/2014/main" id="{48DD224D-8842-4281-8406-9FCADDC9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1430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B  Explicit strategic control</a:t>
            </a:r>
          </a:p>
        </p:txBody>
      </p:sp>
      <p:sp>
        <p:nvSpPr>
          <p:cNvPr id="3" name="heading-c">
            <a:extLst xmlns:a="http://schemas.openxmlformats.org/drawingml/2006/main">
              <a:ext uri="{FF2B5EF4-FFF2-40B4-BE49-F238E27FC236}">
                <a16:creationId xmlns:a16="http://schemas.microsoft.com/office/drawing/2014/main" id="{9AE21FBC-8D10-4147-B924-E140F77A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C  Matched utility</a:t>
            </a:r>
          </a:p>
        </p:txBody>
      </p:sp>
      <p:sp>
        <p:nvSpPr>
          <p:cNvPr id="4" name="divider-a">
            <a:extLst xmlns:a="http://schemas.openxmlformats.org/drawingml/2006/main">
              <a:ext uri="{FF2B5EF4-FFF2-40B4-BE49-F238E27FC236}">
                <a16:creationId xmlns:a16="http://schemas.microsoft.com/office/drawing/2014/main" id="{9FF0BA09-CBAD-4B87-B942-9D79EA93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95250"/>
            <a:ext cx="0" cy="499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9D4"/>
            </a:solidFill>
            <a:prstDash val="solid"/>
          </a:ln>
        </p:spPr>
      </p:sp>
      <p:sp>
        <p:nvSpPr>
          <p:cNvPr id="5" name="divider-b">
            <a:extLst xmlns:a="http://schemas.openxmlformats.org/drawingml/2006/main">
              <a:ext uri="{FF2B5EF4-FFF2-40B4-BE49-F238E27FC236}">
                <a16:creationId xmlns:a16="http://schemas.microsoft.com/office/drawing/2014/main" id="{6CE06A00-7A93-4439-8E95-132B76A3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95250"/>
            <a:ext cx="0" cy="499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9D4"/>
            </a:solidFill>
            <a:prstDash val="solid"/>
          </a:ln>
        </p:spPr>
      </p:sp>
      <p:sp>
        <p:nvSpPr>
          <p:cNvPr id="6" name="document-back">
            <a:extLst xmlns:a="http://schemas.openxmlformats.org/drawingml/2006/main">
              <a:ext uri="{FF2B5EF4-FFF2-40B4-BE49-F238E27FC236}">
                <a16:creationId xmlns:a16="http://schemas.microsoft.com/office/drawing/2014/main" id="{96D39DA0-36BC-4DCB-87C4-C2634E48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14400"/>
            <a:ext cx="628650" cy="7905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4F"/>
            </a:solidFill>
            <a:prstDash val="solid"/>
          </a:ln>
        </p:spPr>
      </p:sp>
      <p:sp>
        <p:nvSpPr>
          <p:cNvPr id="7" name="document-middle">
            <a:extLst xmlns:a="http://schemas.openxmlformats.org/drawingml/2006/main">
              <a:ext uri="{FF2B5EF4-FFF2-40B4-BE49-F238E27FC236}">
                <a16:creationId xmlns:a16="http://schemas.microsoft.com/office/drawing/2014/main" id="{D4FBF126-7117-44C8-8082-8BD2169E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628650" cy="7905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4F"/>
            </a:solidFill>
            <a:prstDash val="solid"/>
          </a:ln>
        </p:spPr>
      </p:sp>
      <p:sp>
        <p:nvSpPr>
          <p:cNvPr id="8" name="document-front">
            <a:extLst xmlns:a="http://schemas.openxmlformats.org/drawingml/2006/main">
              <a:ext uri="{FF2B5EF4-FFF2-40B4-BE49-F238E27FC236}">
                <a16:creationId xmlns:a16="http://schemas.microsoft.com/office/drawing/2014/main" id="{AE6F8BB5-2B75-4DB7-9EB0-EE2FCD21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628650" cy="7905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4F"/>
            </a:solidFill>
            <a:prstDash val="solid"/>
          </a:ln>
        </p:spPr>
      </p:sp>
      <p:sp>
        <p:nvSpPr>
          <p:cNvPr id="9" name="document-line-0">
            <a:extLst xmlns:a="http://schemas.openxmlformats.org/drawingml/2006/main">
              <a:ext uri="{FF2B5EF4-FFF2-40B4-BE49-F238E27FC236}">
                <a16:creationId xmlns:a16="http://schemas.microsoft.com/office/drawing/2014/main" id="{1964D076-B57F-4CB2-91EB-AAD819C0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8953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74F"/>
            </a:solidFill>
            <a:prstDash val="solid"/>
          </a:ln>
        </p:spPr>
      </p:sp>
      <p:sp>
        <p:nvSpPr>
          <p:cNvPr id="10" name="document-line-1">
            <a:extLst xmlns:a="http://schemas.openxmlformats.org/drawingml/2006/main">
              <a:ext uri="{FF2B5EF4-FFF2-40B4-BE49-F238E27FC236}">
                <a16:creationId xmlns:a16="http://schemas.microsoft.com/office/drawing/2014/main" id="{1F315FFC-4D58-4345-A86C-1F25597E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0287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74F"/>
            </a:solidFill>
            <a:prstDash val="solid"/>
          </a:ln>
        </p:spPr>
      </p:sp>
      <p:sp>
        <p:nvSpPr>
          <p:cNvPr id="11" name="document-line-2">
            <a:extLst xmlns:a="http://schemas.openxmlformats.org/drawingml/2006/main">
              <a:ext uri="{FF2B5EF4-FFF2-40B4-BE49-F238E27FC236}">
                <a16:creationId xmlns:a16="http://schemas.microsoft.com/office/drawing/2014/main" id="{25118E5E-4096-488C-82E6-801A07AB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1620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74F"/>
            </a:solidFill>
            <a:prstDash val="solid"/>
          </a:ln>
        </p:spPr>
      </p:sp>
      <p:sp>
        <p:nvSpPr>
          <p:cNvPr id="12" name="document-line-3">
            <a:extLst xmlns:a="http://schemas.openxmlformats.org/drawingml/2006/main">
              <a:ext uri="{FF2B5EF4-FFF2-40B4-BE49-F238E27FC236}">
                <a16:creationId xmlns:a16="http://schemas.microsoft.com/office/drawing/2014/main" id="{2B68FA42-E50F-4C7E-94F4-39EF5B52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954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74F"/>
            </a:solidFill>
            <a:prstDash val="solid"/>
          </a:ln>
        </p:spPr>
      </p:sp>
      <p:sp>
        <p:nvSpPr>
          <p:cNvPr id="13" name="source-count">
            <a:extLst xmlns:a="http://schemas.openxmlformats.org/drawingml/2006/main">
              <a:ext uri="{FF2B5EF4-FFF2-40B4-BE49-F238E27FC236}">
                <a16:creationId xmlns:a16="http://schemas.microsoft.com/office/drawing/2014/main" id="{64FA1BCB-7BF7-441F-BBCC-502F7FA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52475"/>
            <a:ext cx="257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12 documents</a:t>
            </a:r>
          </a:p>
          <a:p xmlns:a="http://schemas.openxmlformats.org/drawingml/2006/main">
            <a:pPr algn="l">
              <a:defRPr sz="2250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6 event groups</a:t>
            </a:r>
          </a:p>
        </p:txBody>
      </p:sp>
      <p:sp>
        <p:nvSpPr>
          <p:cNvPr id="14" name="source-examples">
            <a:extLst xmlns:a="http://schemas.openxmlformats.org/drawingml/2006/main">
              <a:ext uri="{FF2B5EF4-FFF2-40B4-BE49-F238E27FC236}">
                <a16:creationId xmlns:a16="http://schemas.microsoft.com/office/drawing/2014/main" id="{63FCDD06-33FD-4A29-A59E-761FD5C6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62125"/>
            <a:ext cx="3667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74F"/>
                </a:solidFill>
                <a:latin typeface="Arial"/>
                <a:ea typeface="Arial"/>
                <a:cs typeface="Arial"/>
              </a:rPr>
              <a:t>Ceasefires and</a:t>
            </a:r>
          </a:p>
          <a:p xmlns:a="http://schemas.openxmlformats.org/drawingml/2006/main">
            <a:pPr algn="l">
              <a:defRPr sz="2100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74F"/>
                </a:solidFill>
                <a:latin typeface="Arial"/>
                <a:ea typeface="Arial"/>
                <a:cs typeface="Arial"/>
              </a:rPr>
              <a:t>reciprocal measures</a:t>
            </a:r>
          </a:p>
        </p:txBody>
      </p:sp>
      <p:sp>
        <p:nvSpPr>
          <p:cNvPr id="15" name="offline-arrow">
            <a:extLst xmlns:a="http://schemas.openxmlformats.org/drawingml/2006/main">
              <a:ext uri="{FF2B5EF4-FFF2-40B4-BE49-F238E27FC236}">
                <a16:creationId xmlns:a16="http://schemas.microsoft.com/office/drawing/2014/main" id="{E615E3A0-229C-4092-B5A7-59AC3F43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76500"/>
            <a:ext cx="238125" cy="3714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37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anguage-bank">
            <a:extLst xmlns:a="http://schemas.openxmlformats.org/drawingml/2006/main">
              <a:ext uri="{FF2B5EF4-FFF2-40B4-BE49-F238E27FC236}">
                <a16:creationId xmlns:a16="http://schemas.microsoft.com/office/drawing/2014/main" id="{F802E110-79C7-4948-A3CA-6589CD69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952750"/>
            <a:ext cx="36766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DDF1F2"/>
          </a:solidFill>
          <a:ln xmlns:a="http://schemas.openxmlformats.org/drawingml/2006/main" w="19050">
            <a:solidFill>
              <a:srgbClr val="1537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GPT-5.6 Luna</a:t>
            </a:r>
          </a:p>
          <a:p xmlns:a="http://schemas.openxmlformats.org/drawingml/2006/main">
            <a:pPr algn="ctr">
              <a:defRPr sz="217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396 fixed utterances</a:t>
            </a:r>
          </a:p>
          <a:p xmlns:a="http://schemas.openxmlformats.org/drawingml/2006/main">
            <a:pPr algn="ctr">
              <a:defRPr sz="217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+ interpreted meanings</a:t>
            </a:r>
          </a:p>
        </p:txBody>
      </p:sp>
      <p:sp>
        <p:nvSpPr>
          <p:cNvPr id="17" name="offline-label">
            <a:extLst xmlns:a="http://schemas.openxmlformats.org/drawingml/2006/main">
              <a:ext uri="{FF2B5EF4-FFF2-40B4-BE49-F238E27FC236}">
                <a16:creationId xmlns:a16="http://schemas.microsoft.com/office/drawing/2014/main" id="{CE07C1EA-3D5B-4666-A888-C0159D8C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25767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74F"/>
                </a:solidFill>
                <a:latin typeface="Arial"/>
                <a:ea typeface="Arial"/>
                <a:cs typeface="Arial"/>
              </a:rPr>
              <a:t>Prepared once, offline</a:t>
            </a:r>
          </a:p>
        </p:txBody>
      </p:sp>
      <p:sp>
        <p:nvSpPr>
          <p:cNvPr id="18" name="data-scope">
            <a:extLst xmlns:a="http://schemas.openxmlformats.org/drawingml/2006/main">
              <a:ext uri="{FF2B5EF4-FFF2-40B4-BE49-F238E27FC236}">
                <a16:creationId xmlns:a16="http://schemas.microsoft.com/office/drawing/2014/main" id="{A7FA5637-D20B-4784-ABB2-0213F976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657725"/>
            <a:ext cx="376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74F"/>
                </a:solidFill>
                <a:latin typeface="Arial"/>
                <a:ea typeface="Arial"/>
                <a:cs typeface="Arial"/>
              </a:rPr>
              <a:t>Sources supply context;</a:t>
            </a:r>
          </a:p>
          <a:p xmlns:a="http://schemas.openxmlformats.org/drawingml/2006/main">
            <a:pPr algn="l">
              <a:defRPr sz="1875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74F"/>
                </a:solidFill>
                <a:latin typeface="Arial"/>
                <a:ea typeface="Arial"/>
                <a:cs typeface="Arial"/>
              </a:rPr>
              <a:t>numerical rules are synthetic.</a:t>
            </a:r>
          </a:p>
        </p:txBody>
      </p:sp>
      <p:sp>
        <p:nvSpPr>
          <p:cNvPr id="19" name="public-state">
            <a:extLst xmlns:a="http://schemas.openxmlformats.org/drawingml/2006/main">
              <a:ext uri="{FF2B5EF4-FFF2-40B4-BE49-F238E27FC236}">
                <a16:creationId xmlns:a16="http://schemas.microsoft.com/office/drawing/2014/main" id="{A9AE2B6C-DEB8-4DAC-8618-D4623B60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800100"/>
            <a:ext cx="57721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CEBF6"/>
          </a:solidFill>
          <a:ln xmlns:a="http://schemas.openxmlformats.org/drawingml/2006/main" w="19050">
            <a:solidFill>
              <a:srgbClr val="1537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Public state: belief, commitments, costs</a:t>
            </a:r>
          </a:p>
        </p:txBody>
      </p:sp>
      <p:sp>
        <p:nvSpPr>
          <p:cNvPr id="20" name="state-to-planner">
            <a:extLst xmlns:a="http://schemas.openxmlformats.org/drawingml/2006/main">
              <a:ext uri="{FF2B5EF4-FFF2-40B4-BE49-F238E27FC236}">
                <a16:creationId xmlns:a16="http://schemas.microsoft.com/office/drawing/2014/main" id="{E85E342C-093E-4722-85C2-3EBB9F13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81150"/>
            <a:ext cx="2286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37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te-to-ppo">
            <a:extLst xmlns:a="http://schemas.openxmlformats.org/drawingml/2006/main">
              <a:ext uri="{FF2B5EF4-FFF2-40B4-BE49-F238E27FC236}">
                <a16:creationId xmlns:a16="http://schemas.microsoft.com/office/drawing/2014/main" id="{C5F5BEC0-B98C-44AC-A6B3-DC2725EC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81150"/>
            <a:ext cx="2286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37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lanner">
            <a:extLst xmlns:a="http://schemas.openxmlformats.org/drawingml/2006/main">
              <a:ext uri="{FF2B5EF4-FFF2-40B4-BE49-F238E27FC236}">
                <a16:creationId xmlns:a16="http://schemas.microsoft.com/office/drawing/2014/main" id="{C3FE6519-6A5E-4888-BA7A-D98515FC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57400"/>
            <a:ext cx="24003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DF1F2"/>
          </a:solidFill>
          <a:ln xmlns:a="http://schemas.openxmlformats.org/drawingml/2006/main" w="19050">
            <a:solidFill>
              <a:srgbClr val="1537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Belief-state</a:t>
            </a:r>
          </a:p>
          <a:p xmlns:a="http://schemas.openxmlformats.org/drawingml/2006/main">
            <a:pPr algn="ctr">
              <a:defRPr sz="217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23" name="student">
            <a:extLst xmlns:a="http://schemas.openxmlformats.org/drawingml/2006/main">
              <a:ext uri="{FF2B5EF4-FFF2-40B4-BE49-F238E27FC236}">
                <a16:creationId xmlns:a16="http://schemas.microsoft.com/office/drawing/2014/main" id="{F011BBA1-2105-4B0C-B3FC-C37C0A83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20002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DF1F2"/>
          </a:solidFill>
          <a:ln xmlns:a="http://schemas.openxmlformats.org/drawingml/2006/main" w="19050">
            <a:solidFill>
              <a:srgbClr val="1537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Distilled PPO</a:t>
            </a:r>
          </a:p>
        </p:txBody>
      </p:sp>
      <p:sp>
        <p:nvSpPr>
          <p:cNvPr id="24" name="distillation">
            <a:extLst xmlns:a="http://schemas.openxmlformats.org/drawingml/2006/main">
              <a:ext uri="{FF2B5EF4-FFF2-40B4-BE49-F238E27FC236}">
                <a16:creationId xmlns:a16="http://schemas.microsoft.com/office/drawing/2014/main" id="{FFFB45F5-69AE-40C3-9C64-FC23CA65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33625"/>
            <a:ext cx="96202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37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acher-label">
            <a:extLst xmlns:a="http://schemas.openxmlformats.org/drawingml/2006/main">
              <a:ext uri="{FF2B5EF4-FFF2-40B4-BE49-F238E27FC236}">
                <a16:creationId xmlns:a16="http://schemas.microsoft.com/office/drawing/2014/main" id="{48D36AE2-B564-4A44-99AE-545EB6E9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71675"/>
            <a:ext cx="1000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74F"/>
                </a:solidFill>
                <a:latin typeface="Arial"/>
                <a:ea typeface="Arial"/>
                <a:cs typeface="Arial"/>
              </a:rPr>
              <a:t>distill</a:t>
            </a:r>
          </a:p>
        </p:txBody>
      </p:sp>
      <p:sp>
        <p:nvSpPr>
          <p:cNvPr id="26" name="alternative-label">
            <a:extLst xmlns:a="http://schemas.openxmlformats.org/drawingml/2006/main">
              <a:ext uri="{FF2B5EF4-FFF2-40B4-BE49-F238E27FC236}">
                <a16:creationId xmlns:a16="http://schemas.microsoft.com/office/drawing/2014/main" id="{DC60314E-95C0-41F0-8BBB-39A6AB4C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402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59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5970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97080"/>
                </a:solidFill>
                <a:latin typeface="Arial"/>
                <a:ea typeface="Arial"/>
                <a:cs typeface="Arial"/>
              </a:rPr>
              <a:t>Choose one controller</a:t>
            </a:r>
          </a:p>
        </p:txBody>
      </p:sp>
      <p:sp>
        <p:nvSpPr>
          <p:cNvPr id="27" name="planner-execution">
            <a:extLst xmlns:a="http://schemas.openxmlformats.org/drawingml/2006/main">
              <a:ext uri="{FF2B5EF4-FFF2-40B4-BE49-F238E27FC236}">
                <a16:creationId xmlns:a16="http://schemas.microsoft.com/office/drawing/2014/main" id="{61FCB317-718E-4141-8B58-09CF2686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924175"/>
            <a:ext cx="190500" cy="647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37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udent-route-1">
            <a:extLst xmlns:a="http://schemas.openxmlformats.org/drawingml/2006/main">
              <a:ext uri="{FF2B5EF4-FFF2-40B4-BE49-F238E27FC236}">
                <a16:creationId xmlns:a16="http://schemas.microsoft.com/office/drawing/2014/main" id="{0B3332B4-3813-4F83-A67F-72692606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575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74F"/>
            </a:solidFill>
            <a:prstDash val="solid"/>
          </a:ln>
        </p:spPr>
      </p:sp>
      <p:sp>
        <p:nvSpPr>
          <p:cNvPr id="29" name="student-route-2">
            <a:extLst xmlns:a="http://schemas.openxmlformats.org/drawingml/2006/main">
              <a:ext uri="{FF2B5EF4-FFF2-40B4-BE49-F238E27FC236}">
                <a16:creationId xmlns:a16="http://schemas.microsoft.com/office/drawing/2014/main" id="{5C762A5D-4F02-4959-A439-FE94305A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71850"/>
            <a:ext cx="298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74F"/>
            </a:solidFill>
            <a:prstDash val="solid"/>
          </a:ln>
        </p:spPr>
      </p:sp>
      <p:sp>
        <p:nvSpPr>
          <p:cNvPr id="30" name="student-route-3">
            <a:extLst xmlns:a="http://schemas.openxmlformats.org/drawingml/2006/main">
              <a:ext uri="{FF2B5EF4-FFF2-40B4-BE49-F238E27FC236}">
                <a16:creationId xmlns:a16="http://schemas.microsoft.com/office/drawing/2014/main" id="{4DF2EDE9-2790-4FD1-A450-82CBDFC6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71850"/>
            <a:ext cx="19050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37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xecute-fixed">
            <a:extLst xmlns:a="http://schemas.openxmlformats.org/drawingml/2006/main">
              <a:ext uri="{FF2B5EF4-FFF2-40B4-BE49-F238E27FC236}">
                <a16:creationId xmlns:a16="http://schemas.microsoft.com/office/drawing/2014/main" id="{C1E24694-269F-4BC6-B9EE-1D278D20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67125"/>
            <a:ext cx="2400300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DCEBF6"/>
          </a:solidFill>
          <a:ln xmlns:a="http://schemas.openxmlformats.org/drawingml/2006/main" w="19050">
            <a:solidFill>
              <a:srgbClr val="1537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Execute fixed</a:t>
            </a:r>
          </a:p>
          <a:p xmlns:a="http://schemas.openxmlformats.org/drawingml/2006/main">
            <a:pPr algn="ctr">
              <a:defRPr sz="2100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Luna utterance</a:t>
            </a:r>
          </a:p>
        </p:txBody>
      </p:sp>
      <p:sp>
        <p:nvSpPr>
          <p:cNvPr id="32" name="utterance-to-counterpart">
            <a:extLst xmlns:a="http://schemas.openxmlformats.org/drawingml/2006/main">
              <a:ext uri="{FF2B5EF4-FFF2-40B4-BE49-F238E27FC236}">
                <a16:creationId xmlns:a16="http://schemas.microsoft.com/office/drawing/2014/main" id="{42C4F00B-3C35-4FC7-8E96-407F4996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62400"/>
            <a:ext cx="8572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37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unterpart">
            <a:extLst xmlns:a="http://schemas.openxmlformats.org/drawingml/2006/main">
              <a:ext uri="{FF2B5EF4-FFF2-40B4-BE49-F238E27FC236}">
                <a16:creationId xmlns:a16="http://schemas.microsoft.com/office/drawing/2014/main" id="{1D5D2FD8-D37C-44EC-8B0A-AD8E92E2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67125"/>
            <a:ext cx="2000250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8E3AE"/>
          </a:solidFill>
          <a:ln xmlns:a="http://schemas.openxmlformats.org/drawingml/2006/main" w="19050">
            <a:solidFill>
              <a:srgbClr val="1537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Synthetic</a:t>
            </a:r>
          </a:p>
          <a:p xmlns:a="http://schemas.openxmlformats.org/drawingml/2006/main">
            <a:pPr algn="ctr">
              <a:defRPr sz="2100" b="1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74F"/>
                </a:solidFill>
                <a:latin typeface="Arial"/>
                <a:ea typeface="Arial"/>
                <a:cs typeface="Arial"/>
              </a:rPr>
              <a:t>counterpart</a:t>
            </a:r>
          </a:p>
        </p:txBody>
      </p:sp>
      <p:sp>
        <p:nvSpPr>
          <p:cNvPr id="34" name="feedback-up">
            <a:extLst xmlns:a="http://schemas.openxmlformats.org/drawingml/2006/main">
              <a:ext uri="{FF2B5EF4-FFF2-40B4-BE49-F238E27FC236}">
                <a16:creationId xmlns:a16="http://schemas.microsoft.com/office/drawing/2014/main" id="{EBDB5E62-FE52-4D8A-9D80-DEA1A80B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133475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74F"/>
            </a:solidFill>
            <a:prstDash val="solid"/>
          </a:ln>
        </p:spPr>
      </p:sp>
      <p:sp>
        <p:nvSpPr>
          <p:cNvPr id="35" name="feedback-start">
            <a:extLst xmlns:a="http://schemas.openxmlformats.org/drawingml/2006/main">
              <a:ext uri="{FF2B5EF4-FFF2-40B4-BE49-F238E27FC236}">
                <a16:creationId xmlns:a16="http://schemas.microsoft.com/office/drawing/2014/main" id="{6B8CBACF-7F45-443C-ABA2-2E0ECCEC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957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74F"/>
            </a:solidFill>
            <a:prstDash val="solid"/>
          </a:ln>
        </p:spPr>
      </p:sp>
      <p:sp>
        <p:nvSpPr>
          <p:cNvPr id="36" name="feedback-end">
            <a:extLst xmlns:a="http://schemas.openxmlformats.org/drawingml/2006/main">
              <a:ext uri="{FF2B5EF4-FFF2-40B4-BE49-F238E27FC236}">
                <a16:creationId xmlns:a16="http://schemas.microsoft.com/office/drawing/2014/main" id="{7C74DED5-7FF1-44E0-AF67-670CF21D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28700"/>
            <a:ext cx="2286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537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FC0FB28F-9664-4043-B18C-D8D60DDD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67250"/>
            <a:ext cx="576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74F"/>
                </a:solidFill>
                <a:latin typeface="Arial"/>
                <a:ea typeface="Arial"/>
                <a:cs typeface="Arial"/>
              </a:rPr>
              <a:t>Observed reply → Bayesian update</a:t>
            </a:r>
          </a:p>
        </p:txBody>
      </p:sp>
      <p:sp>
        <p:nvSpPr>
          <p:cNvPr id="38" name="hidden-type-note">
            <a:extLst xmlns:a="http://schemas.openxmlformats.org/drawingml/2006/main">
              <a:ext uri="{FF2B5EF4-FFF2-40B4-BE49-F238E27FC236}">
                <a16:creationId xmlns:a16="http://schemas.microsoft.com/office/drawing/2014/main" id="{B61FFA30-55E1-401D-A857-C04BF42E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4825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970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7080"/>
                </a:solidFill>
                <a:latin typeface="Arial"/>
                <a:ea typeface="Arial"/>
                <a:cs typeface="Arial"/>
              </a:rPr>
              <a:t>Hidden type is never visible to the controller.</a:t>
            </a:r>
          </a:p>
        </p:txBody>
      </p:sp>
      <p:sp>
        <p:nvSpPr>
          <p:cNvPr id="39" name="matched-subtitle">
            <a:extLst xmlns:a="http://schemas.openxmlformats.org/drawingml/2006/main">
              <a:ext uri="{FF2B5EF4-FFF2-40B4-BE49-F238E27FC236}">
                <a16:creationId xmlns:a16="http://schemas.microsoft.com/office/drawing/2014/main" id="{6594D081-4C99-4636-9B7D-625EE61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627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74F"/>
                </a:solidFill>
                <a:latin typeface="Arial"/>
                <a:ea typeface="Arial"/>
                <a:cs typeface="Arial"/>
              </a:rPr>
              <a:t>64 matched conditions</a:t>
            </a:r>
          </a:p>
        </p:txBody>
      </p:sp>
      <p:graphicFrame>
        <p:nvGraphicFramePr>
          <p:cNvPr id="40" name="Chart">
            <a:extLst xmlns:a="http://schemas.openxmlformats.org/drawingml/2006/main">
              <a:ext uri="{FF2B5EF4-FFF2-40B4-BE49-F238E27FC236}">
                <a16:creationId xmlns:a16="http://schemas.microsoft.com/office/drawing/2014/main" id="{64212D85-C06B-4B8F-9ED5-54396C397848}"/>
              </a:ext>
            </a:extLst>
          </p:cNvPr>
          <p:cNvGraphicFramePr/>
          <p:nvPr/>
        </p:nvGraphicFramePr>
        <p:xfrm>
          <a:off xmlns:a="http://schemas.openxmlformats.org/drawingml/2006/main" x="10858500" y="1219200"/>
          <a:ext xmlns:a="http://schemas.openxmlformats.org/drawingml/2006/main" cx="498157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ab5e6c22454a28"/>
          </a:graphicData>
        </a:graphic>
      </p:graphicFrame>
      <p:sp>
        <p:nvSpPr>
          <p:cNvPr id="41" name="utility-note">
            <a:extLst xmlns:a="http://schemas.openxmlformats.org/drawingml/2006/main">
              <a:ext uri="{FF2B5EF4-FFF2-40B4-BE49-F238E27FC236}">
                <a16:creationId xmlns:a16="http://schemas.microsoft.com/office/drawing/2014/main" id="{5253C929-49FF-4093-A8BC-94822A87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8622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5374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74F"/>
                </a:solidFill>
                <a:latin typeface="Arial"/>
                <a:ea typeface="Arial"/>
                <a:cs typeface="Arial"/>
              </a:rPr>
              <a:t>Net utility (higher is better)</a:t>
            </a:r>
          </a:p>
        </p:txBody>
      </p:sp>
      <p:sp>
        <p:nvSpPr>
          <p:cNvPr id="42" name="calls">
            <a:extLst xmlns:a="http://schemas.openxmlformats.org/drawingml/2006/main">
              <a:ext uri="{FF2B5EF4-FFF2-40B4-BE49-F238E27FC236}">
                <a16:creationId xmlns:a16="http://schemas.microsoft.com/office/drawing/2014/main" id="{4ED0A65B-F821-4A32-BB48-DA078431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81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Local controllers: 0 further</a:t>
            </a:r>
          </a:p>
          <a:p xmlns:a="http://schemas.openxmlformats.org/drawingml/2006/main">
            <a:pPr algn="ctr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model calls to choose actions</a:t>
            </a:r>
          </a:p>
        </p:txBody>
      </p:sp>
    </p:spTree>
    <p:extLst>
      <p:ext uri="{BB962C8B-B14F-4D97-AF65-F5344CB8AC3E}">
        <p14:creationId xmlns:p14="http://schemas.microsoft.com/office/powerpoint/2010/main" val="413306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2026-10-12T04:46:36.7020000Z</dcterms:created>
  <dcterms:modified xsi:type="dcterms:W3CDTF">2026-10-12T04:46:36.7020000Z</dcterms:modified>
</coreProperties>
</file>